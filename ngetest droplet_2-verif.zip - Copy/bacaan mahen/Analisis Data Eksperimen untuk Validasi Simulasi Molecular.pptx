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3" r:id="rId7"/>
    <p:sldId id="262" r:id="rId8"/>
    <p:sldId id="261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8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A19CD-6CE9-8E1A-D88D-E474B831DC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9D1BFA-061E-CE56-FDA0-D3B44B0355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63DF6-3991-9EF2-AE65-02DB7E6FE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722A9-39C1-4546-A442-7137396AF352}" type="datetimeFigureOut">
              <a:rPr lang="en-ID" smtClean="0"/>
              <a:t>05/06/2026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E5629-A03C-9BFE-44A0-E5DAB1B4B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C4717-2D21-9E35-A1A2-F2D97C850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0F040-716D-45E5-8657-721B4B6F807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97269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62668-E9E4-E547-53D8-49F844C06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B80B2-D98A-805A-9111-F28287322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0524C-B869-8B79-BF83-DA357E8F4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722A9-39C1-4546-A442-7137396AF352}" type="datetimeFigureOut">
              <a:rPr lang="en-ID" smtClean="0"/>
              <a:t>05/06/2026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4C662-5091-0CB7-BBDE-CB347B570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005E4-BC8A-AE37-3A62-7FA4833AF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0F040-716D-45E5-8657-721B4B6F807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41919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F66CC-FE54-2A38-7E57-C30BF189E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F6709C-EC1B-BBE0-F50C-461662FFE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C62EF-E1E0-2FB1-BBBF-4C042067D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722A9-39C1-4546-A442-7137396AF352}" type="datetimeFigureOut">
              <a:rPr lang="en-ID" smtClean="0"/>
              <a:t>05/06/2026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7D5EB-A96D-B818-07FB-C328DC751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08FF1-F6E6-6D0D-08FB-162E1A4AC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0F040-716D-45E5-8657-721B4B6F807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7651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622DE-1EF7-3E7F-A4C1-54EDE8E01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B2E89-F20E-380F-B471-89D981FD80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38DE33-BF9A-F85B-5C72-7230DE3CA7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88595E-E92E-8CC0-ACA2-D3B1D4EE9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722A9-39C1-4546-A442-7137396AF352}" type="datetimeFigureOut">
              <a:rPr lang="en-ID" smtClean="0"/>
              <a:t>05/06/2026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570245-9C67-35B2-98C1-F9A1EBD9E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062319-EE53-E394-A916-5FBC02E9E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0F040-716D-45E5-8657-721B4B6F807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881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D65F9-9DE9-4DAF-0CAA-A7884B012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33E81D-982F-7091-1B15-53409F28C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818643-00F3-0D26-20AA-C843E66EA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BA134A-10AB-EB4E-995A-5AFC1297AC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911198-FB9B-4595-789B-0DD7499790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FF4F95-1B70-79CD-9D83-68CC7319B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722A9-39C1-4546-A442-7137396AF352}" type="datetimeFigureOut">
              <a:rPr lang="en-ID" smtClean="0"/>
              <a:t>05/06/2026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91A212-DA21-E1F8-84EE-A9BB004BA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A64CF2-A207-2805-96B8-B5E3DF007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0F040-716D-45E5-8657-721B4B6F807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69677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8E2C3-461B-C41F-C1A3-71AF70806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989672-040D-DB73-E6BF-4CDC36F17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722A9-39C1-4546-A442-7137396AF352}" type="datetimeFigureOut">
              <a:rPr lang="en-ID" smtClean="0"/>
              <a:t>05/06/2026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367E22-0A98-6186-BE9A-DFBF252C7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B6FD04-68E3-9353-0E8C-A1CE038FB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0F040-716D-45E5-8657-721B4B6F807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4440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4A6119-598E-0632-DCC5-8CAC1DEB7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722A9-39C1-4546-A442-7137396AF352}" type="datetimeFigureOut">
              <a:rPr lang="en-ID" smtClean="0"/>
              <a:t>05/06/2026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2A668A-EC2D-9C21-72FC-E13AB17F7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EA303-7389-9208-CAEA-69347C644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0F040-716D-45E5-8657-721B4B6F807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73762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0F184-BD23-5E27-95E0-03BB26014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372A9-A685-6F58-1199-820F37681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D35D0E-7A45-5968-65EE-B393DE6065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09786-8841-21A1-2243-120C59320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722A9-39C1-4546-A442-7137396AF352}" type="datetimeFigureOut">
              <a:rPr lang="en-ID" smtClean="0"/>
              <a:t>05/06/2026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CD99CA-3AB9-9EC3-517B-B6E5E2257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76E04-3705-3DEC-1AA1-94CBA0000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0F040-716D-45E5-8657-721B4B6F807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84343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868F8-FADB-D3B5-E1E2-0267EEE14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649086-74D5-202F-1AF7-FACAC04159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2AD7DA-733D-C8F9-1181-057433F758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244A28-5AC7-20C1-4C3E-116FC3C87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722A9-39C1-4546-A442-7137396AF352}" type="datetimeFigureOut">
              <a:rPr lang="en-ID" smtClean="0"/>
              <a:t>05/06/2026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3A177D-CC14-2643-20D3-B339BF3AC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48A5C4-6E2D-8501-3BA5-B0EB73608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0F040-716D-45E5-8657-721B4B6F807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1158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77382-A8E8-E396-3BFF-0AB6D1060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2FCE35-FFE9-F888-2160-43BC94C989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2592D-0F27-D399-DDD7-3806E3339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722A9-39C1-4546-A442-7137396AF352}" type="datetimeFigureOut">
              <a:rPr lang="en-ID" smtClean="0"/>
              <a:t>05/06/2026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FF878-F7A6-CADC-3583-D8FCB9C86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C049B-185F-6B19-8F67-88E6BBDAF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0F040-716D-45E5-8657-721B4B6F807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57138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16E258-9731-234F-1D9A-B0A1B07D4B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EF51F7-131C-B53A-4381-62CBBE7118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A68F0-77F5-9B06-8CD0-D051DFE5D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722A9-39C1-4546-A442-7137396AF352}" type="datetimeFigureOut">
              <a:rPr lang="en-ID" smtClean="0"/>
              <a:t>05/06/2026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081953-DEA5-4E97-F5B6-8E08E62E4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3B1AA-64E7-EB99-D424-9E03A0ABA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0F040-716D-45E5-8657-721B4B6F807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94196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CD3AFB-8DD2-20FC-A12C-7CDE4CF94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05452C-CF01-A683-0815-250FE4896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7FB9D-59A2-BBE4-3CC4-C957CA6DC4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D722A9-39C1-4546-A442-7137396AF352}" type="datetimeFigureOut">
              <a:rPr lang="en-ID" smtClean="0"/>
              <a:t>05/06/2026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481F8-ED41-D037-9347-5727126BC9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BDCA3-09B0-67A0-4B0A-24DCCA6067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70F040-716D-45E5-8657-721B4B6F807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38796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92CDB-79C3-8742-07FF-3EAE326F1D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ID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ID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Analisis</a:t>
            </a:r>
            <a:r>
              <a:rPr lang="en-ID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ID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Eksperimen</a:t>
            </a:r>
            <a:r>
              <a:rPr lang="en-ID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Validasi</a:t>
            </a:r>
            <a:r>
              <a:rPr lang="en-ID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Simulasi</a:t>
            </a:r>
            <a:r>
              <a:rPr lang="en-ID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Molecular Dynamics </a:t>
            </a:r>
            <a:r>
              <a:rPr lang="en-ID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pada Proses </a:t>
            </a:r>
            <a:r>
              <a:rPr lang="en-ID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Tumbukan</a:t>
            </a:r>
            <a:r>
              <a:rPr lang="en-ID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Droplet </a:t>
            </a:r>
            <a:r>
              <a:rPr lang="en-ID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ID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Cooling Flux</a:t>
            </a:r>
            <a:r>
              <a:rPr lang="en-ID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27E63E-6FEA-B4DF-324E-B5045BA49B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Adlan Muhammad Faras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2206055246</a:t>
            </a:r>
            <a:endParaRPr lang="en-ID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322820-E352-E2E1-E1C4-5EA493969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33850" cy="12477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1C47CB-0BE1-7851-F9EB-B0ECCE4AB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4850" y="0"/>
            <a:ext cx="3867150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575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B76DF-DA45-B190-156E-D0EA661D9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EC55A-2E4D-C034-7D29-1F59CAE70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2040"/>
          </a:xfrm>
        </p:spPr>
        <p:txBody>
          <a:bodyPr>
            <a:normAutofit/>
          </a:bodyPr>
          <a:lstStyle/>
          <a:p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Apparatus</a:t>
            </a:r>
            <a:endParaRPr lang="en-ID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82082AF-427F-C060-8B4B-0EB231D9E0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0"/>
            <a:ext cx="10210115" cy="523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244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FBC9B-37C7-0123-5DE7-A9BE9AA49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204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Desain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Eksperimen</a:t>
            </a:r>
            <a:endParaRPr lang="en-ID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3B10A2B-1817-250C-940E-9316857120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0229372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75095688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3123051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 </a:t>
                      </a:r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Variasi</a:t>
                      </a:r>
                      <a:endParaRPr lang="en-ID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Variasi</a:t>
                      </a:r>
                      <a:endParaRPr lang="en-ID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8080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Material Plat Uji</a:t>
                      </a:r>
                      <a:endParaRPr lang="en-ID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Tembaga</a:t>
                      </a:r>
                      <a:endParaRPr lang="en-ID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38537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 Tanki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Fluida</a:t>
                      </a:r>
                      <a:endParaRPr lang="en-ID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1,5 m</a:t>
                      </a:r>
                      <a:endParaRPr lang="en-ID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491710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Temperatur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Plat Uji</a:t>
                      </a:r>
                      <a:endParaRPr lang="en-ID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 </a:t>
                      </a:r>
                      <a:r>
                        <a:rPr lang="en-ID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°C, 100 °C, 130 °C, 150 °C, 200 °C, 250 °C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383914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Campuran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Air +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Etanol</a:t>
                      </a:r>
                      <a:endParaRPr lang="en-ID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0%vol, 4%vol, 8%vol</a:t>
                      </a:r>
                      <a:endParaRPr lang="en-ID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34109767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15C90DFA-76B9-E19F-9461-624398C5BA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75" t="39353" r="17587" b="10336"/>
          <a:stretch>
            <a:fillRect/>
          </a:stretch>
        </p:blipFill>
        <p:spPr>
          <a:xfrm>
            <a:off x="1219198" y="4498284"/>
            <a:ext cx="2110084" cy="180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6C9C52-E901-CBE2-B70A-9618E4617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9282" y="4498284"/>
            <a:ext cx="3299294" cy="1800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46C5B7F-B554-1E98-6569-1C1C8B5F725E}"/>
              </a:ext>
            </a:extLst>
          </p:cNvPr>
          <p:cNvSpPr txBox="1"/>
          <p:nvPr/>
        </p:nvSpPr>
        <p:spPr>
          <a:xfrm>
            <a:off x="6628576" y="4672455"/>
            <a:ext cx="45937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2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Permukaan</a:t>
            </a:r>
            <a:r>
              <a:rPr lang="en-ID" sz="1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Uji; (a) Foto </a:t>
            </a:r>
            <a:r>
              <a:rPr lang="en-ID" sz="12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Permukaan</a:t>
            </a:r>
            <a:r>
              <a:rPr lang="en-ID" sz="1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Uji </a:t>
            </a:r>
            <a:r>
              <a:rPr lang="en-ID" sz="12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Tembaga</a:t>
            </a:r>
            <a:r>
              <a:rPr lang="en-ID" sz="1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; (b) </a:t>
            </a:r>
            <a:r>
              <a:rPr lang="en-ID" sz="12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Ukuran</a:t>
            </a:r>
            <a:r>
              <a:rPr lang="en-ID" sz="1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2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Permukaan</a:t>
            </a:r>
            <a:r>
              <a:rPr lang="en-ID" sz="1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Uji </a:t>
            </a:r>
            <a:r>
              <a:rPr lang="en-ID" sz="12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Tembaga</a:t>
            </a:r>
            <a:r>
              <a:rPr lang="en-ID" sz="1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2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dengan</a:t>
            </a:r>
            <a:r>
              <a:rPr lang="en-ID" sz="1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2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Keterangan</a:t>
            </a:r>
            <a:r>
              <a:rPr lang="en-ID" sz="1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2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Dimensi</a:t>
            </a:r>
            <a:r>
              <a:rPr lang="en-ID" sz="1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(</a:t>
            </a:r>
            <a:r>
              <a:rPr lang="en-ID" sz="12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dalam</a:t>
            </a:r>
            <a:r>
              <a:rPr lang="en-ID" sz="1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mm)</a:t>
            </a:r>
            <a:endParaRPr lang="en-ID" sz="12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C302CE1-0E0A-2A9A-7E16-E20688F87B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548920"/>
              </p:ext>
            </p:extLst>
          </p:nvPr>
        </p:nvGraphicFramePr>
        <p:xfrm>
          <a:off x="1355725" y="6353174"/>
          <a:ext cx="5011594" cy="279400"/>
        </p:xfrm>
        <a:graphic>
          <a:graphicData uri="http://schemas.openxmlformats.org/drawingml/2006/table">
            <a:tbl>
              <a:tblPr/>
              <a:tblGrid>
                <a:gridCol w="1914930">
                  <a:extLst>
                    <a:ext uri="{9D8B030D-6E8A-4147-A177-3AD203B41FA5}">
                      <a16:colId xmlns:a16="http://schemas.microsoft.com/office/drawing/2014/main" val="3973385652"/>
                    </a:ext>
                  </a:extLst>
                </a:gridCol>
                <a:gridCol w="3096664">
                  <a:extLst>
                    <a:ext uri="{9D8B030D-6E8A-4147-A177-3AD203B41FA5}">
                      <a16:colId xmlns:a16="http://schemas.microsoft.com/office/drawing/2014/main" val="18077788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(A)</a:t>
                      </a:r>
                      <a:endParaRPr lang="en-ID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D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(B)</a:t>
                      </a:r>
                      <a:endParaRPr lang="en-ID" dirty="0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96879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6492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F1152-F22F-3BB9-734D-F03587045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93C91-9C6A-8855-1595-F57D15758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204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Droplet Atomizer</a:t>
            </a:r>
            <a:endParaRPr lang="en-ID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8B0C0F0-DDC4-D5C4-AC1C-02EA8B8BC4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04501"/>
            <a:ext cx="6134019" cy="43513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B7A9235-AFA0-56FF-4D37-F19C2D49F913}"/>
              </a:ext>
            </a:extLst>
          </p:cNvPr>
          <p:cNvSpPr txBox="1"/>
          <p:nvPr/>
        </p:nvSpPr>
        <p:spPr>
          <a:xfrm>
            <a:off x="7282543" y="1504501"/>
            <a:ext cx="3048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Gambar</a:t>
            </a:r>
            <a:r>
              <a:rPr lang="en-ID" sz="1800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Sistem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Droplet Atomizer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berbasis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Pneumatic Solenoid Valve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28429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0D497-062F-7BFB-0D7D-31B0555B3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6F09D-CCF3-3F5D-E3B0-A950A2C1E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204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Alat-Alat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Lainnya</a:t>
            </a:r>
            <a:endParaRPr lang="en-ID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ACDEB7-C5FE-4E88-54FE-911294889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60046"/>
            <a:ext cx="2350746" cy="1800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8E5FDA0-7AB4-AEA9-1614-CD969990F66C}"/>
              </a:ext>
            </a:extLst>
          </p:cNvPr>
          <p:cNvSpPr txBox="1"/>
          <p:nvPr/>
        </p:nvSpPr>
        <p:spPr>
          <a:xfrm>
            <a:off x="990600" y="3429000"/>
            <a:ext cx="23507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1800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High Speed Camera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Phantom Veo-E 340L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2C9994E-C0A9-A518-EDAB-52E2D76AD5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218" t="27989" r="25359" b="5047"/>
          <a:stretch>
            <a:fillRect/>
          </a:stretch>
        </p:blipFill>
        <p:spPr>
          <a:xfrm>
            <a:off x="4865916" y="1460046"/>
            <a:ext cx="1610051" cy="1800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735B207-EEEE-31DC-FE24-E3D0CB0C5F28}"/>
              </a:ext>
            </a:extLst>
          </p:cNvPr>
          <p:cNvSpPr txBox="1"/>
          <p:nvPr/>
        </p:nvSpPr>
        <p:spPr>
          <a:xfrm>
            <a:off x="4054412" y="3567499"/>
            <a:ext cx="3233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Lampu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MultiLED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GS Vitex QX</a:t>
            </a:r>
            <a:endParaRPr lang="en-ID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065A29D-A9AB-79C2-7984-706B4E64DC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9305" y="1460046"/>
            <a:ext cx="1157724" cy="18000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DF9F4F6-8381-ECCA-D8B4-D3EA1FB70AAF}"/>
              </a:ext>
            </a:extLst>
          </p:cNvPr>
          <p:cNvSpPr txBox="1"/>
          <p:nvPr/>
        </p:nvSpPr>
        <p:spPr>
          <a:xfrm>
            <a:off x="7833652" y="3572716"/>
            <a:ext cx="25690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Modul DAQ Adam-6017</a:t>
            </a:r>
            <a:endParaRPr lang="en-ID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9D18C05-F7FA-DFB8-8018-9807E4ADFD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2963" y="4385185"/>
            <a:ext cx="1806020" cy="18000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63F206E-710A-B109-2DC3-3C073D1394AC}"/>
              </a:ext>
            </a:extLst>
          </p:cNvPr>
          <p:cNvSpPr txBox="1"/>
          <p:nvPr/>
        </p:nvSpPr>
        <p:spPr>
          <a:xfrm>
            <a:off x="3646714" y="4962019"/>
            <a:ext cx="17090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Termokopel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Tipe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-K</a:t>
            </a:r>
            <a:endParaRPr lang="en-ID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F799630-AC37-D0B1-3506-A766945C428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012" t="14233" r="50528" b="15715"/>
          <a:stretch>
            <a:fillRect/>
          </a:stretch>
        </p:blipFill>
        <p:spPr>
          <a:xfrm>
            <a:off x="5670940" y="4385185"/>
            <a:ext cx="1142387" cy="18000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320D622-3448-F5A7-76C7-6A4E7C9CDB12}"/>
              </a:ext>
            </a:extLst>
          </p:cNvPr>
          <p:cNvSpPr txBox="1"/>
          <p:nvPr/>
        </p:nvSpPr>
        <p:spPr>
          <a:xfrm>
            <a:off x="7287469" y="4962019"/>
            <a:ext cx="17090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 Industrial Furnace</a:t>
            </a:r>
          </a:p>
        </p:txBody>
      </p:sp>
    </p:spTree>
    <p:extLst>
      <p:ext uri="{BB962C8B-B14F-4D97-AF65-F5344CB8AC3E}">
        <p14:creationId xmlns:p14="http://schemas.microsoft.com/office/powerpoint/2010/main" val="1579254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028DF-C5DB-EB4A-50D8-D68AEBC7C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2B658-A350-96E5-89CE-81ED03C27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2040"/>
          </a:xfrm>
        </p:spPr>
        <p:txBody>
          <a:bodyPr>
            <a:normAutofit/>
          </a:bodyPr>
          <a:lstStyle/>
          <a:p>
            <a:r>
              <a:rPr lang="en-ID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Rezim</a:t>
            </a:r>
            <a:r>
              <a:rPr lang="en-ID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Perpindahan</a:t>
            </a:r>
            <a:r>
              <a:rPr lang="en-ID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Panas pada </a:t>
            </a:r>
            <a:r>
              <a:rPr lang="en-ID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Evaporasi</a:t>
            </a:r>
            <a:r>
              <a:rPr lang="en-ID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Droplet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334564-F9CC-5F8C-FB47-C338306FA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3574" y="1742620"/>
            <a:ext cx="6619137" cy="45000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07BAB72-40A9-6723-5BE7-CE7C43E10624}"/>
              </a:ext>
            </a:extLst>
          </p:cNvPr>
          <p:cNvSpPr/>
          <p:nvPr/>
        </p:nvSpPr>
        <p:spPr>
          <a:xfrm>
            <a:off x="5421086" y="1665514"/>
            <a:ext cx="2895600" cy="157842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74CCE7-0838-AD2D-3A83-9C3C6E1FC6F6}"/>
              </a:ext>
            </a:extLst>
          </p:cNvPr>
          <p:cNvSpPr txBox="1"/>
          <p:nvPr/>
        </p:nvSpPr>
        <p:spPr>
          <a:xfrm>
            <a:off x="609289" y="1742620"/>
            <a:ext cx="409302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Menguji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semua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rezim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terhadap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efek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pendingin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tetapi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evaporation dan nucleate boiling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pengolahan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video</a:t>
            </a: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4570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9D5EE-6CD1-57FE-3047-E3A169A6B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70416-062C-1440-E257-4DB4E608C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2040"/>
          </a:xfrm>
        </p:spPr>
        <p:txBody>
          <a:bodyPr>
            <a:normAutofit/>
          </a:bodyPr>
          <a:lstStyle/>
          <a:p>
            <a:r>
              <a:rPr lang="en-ID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Tahapan</a:t>
            </a:r>
            <a:r>
              <a:rPr lang="en-ID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Evaporasi</a:t>
            </a:r>
            <a:r>
              <a:rPr lang="en-ID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Droplet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5E9F0E-A7A2-4B4F-65B4-F74256A0C6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7778"/>
          <a:stretch>
            <a:fillRect/>
          </a:stretch>
        </p:blipFill>
        <p:spPr>
          <a:xfrm>
            <a:off x="1305961" y="2087336"/>
            <a:ext cx="5552363" cy="37147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A18050-1A44-66CB-893C-DF659FEDEA45}"/>
              </a:ext>
            </a:extLst>
          </p:cNvPr>
          <p:cNvSpPr txBox="1"/>
          <p:nvPr/>
        </p:nvSpPr>
        <p:spPr>
          <a:xfrm>
            <a:off x="7260771" y="2087336"/>
            <a:ext cx="409302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Initial: Impact &gt; Max Spreading &gt; Steady</a:t>
            </a:r>
          </a:p>
          <a:p>
            <a:pPr marL="285750" indent="-285750">
              <a:buFontTx/>
              <a:buChar char="-"/>
            </a:pPr>
            <a:r>
              <a:rPr lang="en-ID" dirty="0">
                <a:solidFill>
                  <a:srgbClr val="000000"/>
                </a:solidFill>
                <a:latin typeface="Times New Roman" panose="02020603050405020304" pitchFamily="18" charset="0"/>
              </a:rPr>
              <a:t>Fundamental: </a:t>
            </a:r>
            <a:r>
              <a:rPr lang="en-ID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Evaporasi</a:t>
            </a:r>
            <a:r>
              <a:rPr lang="en-ID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tapi</a:t>
            </a:r>
            <a:r>
              <a:rPr lang="en-ID" dirty="0">
                <a:solidFill>
                  <a:srgbClr val="000000"/>
                </a:solidFill>
                <a:latin typeface="Times New Roman" panose="02020603050405020304" pitchFamily="18" charset="0"/>
              </a:rPr>
              <a:t> area yang </a:t>
            </a:r>
            <a:r>
              <a:rPr lang="en-ID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dibasahi</a:t>
            </a:r>
            <a:r>
              <a:rPr lang="en-ID" dirty="0">
                <a:solidFill>
                  <a:srgbClr val="000000"/>
                </a:solidFill>
                <a:latin typeface="Times New Roman" panose="02020603050405020304" pitchFamily="18" charset="0"/>
              </a:rPr>
              <a:t> droplet </a:t>
            </a:r>
            <a:r>
              <a:rPr lang="en-ID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masih</a:t>
            </a:r>
            <a:r>
              <a:rPr lang="en-ID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konstan</a:t>
            </a:r>
            <a:r>
              <a:rPr lang="en-ID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dengan</a:t>
            </a:r>
            <a:r>
              <a:rPr lang="en-ID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kondisi</a:t>
            </a:r>
            <a:r>
              <a:rPr lang="en-ID" dirty="0">
                <a:solidFill>
                  <a:srgbClr val="000000"/>
                </a:solidFill>
                <a:latin typeface="Times New Roman" panose="02020603050405020304" pitchFamily="18" charset="0"/>
              </a:rPr>
              <a:t> steady</a:t>
            </a:r>
          </a:p>
          <a:p>
            <a:pPr marL="285750" indent="-285750">
              <a:buFontTx/>
              <a:buChar char="-"/>
            </a:pPr>
            <a:r>
              <a:rPr lang="en-ID" dirty="0">
                <a:solidFill>
                  <a:srgbClr val="000000"/>
                </a:solidFill>
                <a:latin typeface="Times New Roman" panose="02020603050405020304" pitchFamily="18" charset="0"/>
              </a:rPr>
              <a:t>Final: </a:t>
            </a:r>
            <a:r>
              <a:rPr lang="en-ID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Evaporasi</a:t>
            </a:r>
            <a:r>
              <a:rPr lang="en-ID" dirty="0">
                <a:solidFill>
                  <a:srgbClr val="000000"/>
                </a:solidFill>
                <a:latin typeface="Times New Roman" panose="02020603050405020304" pitchFamily="18" charset="0"/>
              </a:rPr>
              <a:t> dan area yang </a:t>
            </a:r>
            <a:r>
              <a:rPr lang="en-ID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dibasahi</a:t>
            </a:r>
            <a:r>
              <a:rPr lang="en-ID" dirty="0">
                <a:solidFill>
                  <a:srgbClr val="000000"/>
                </a:solidFill>
                <a:latin typeface="Times New Roman" panose="02020603050405020304" pitchFamily="18" charset="0"/>
              </a:rPr>
              <a:t> droplet </a:t>
            </a:r>
            <a:r>
              <a:rPr lang="en-ID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menyusut</a:t>
            </a:r>
            <a:r>
              <a:rPr lang="en-ID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sampai</a:t>
            </a:r>
            <a:r>
              <a:rPr lang="en-ID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akhirnya</a:t>
            </a:r>
            <a:r>
              <a:rPr lang="en-ID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habis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50136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1188B-9C65-1F47-0185-BCCDF872C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2B204-F995-8D50-97DF-F1D938AFA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2040"/>
          </a:xfrm>
        </p:spPr>
        <p:txBody>
          <a:bodyPr>
            <a:normAutofit/>
          </a:bodyPr>
          <a:lstStyle/>
          <a:p>
            <a:r>
              <a:rPr lang="en-ID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Visualisasi</a:t>
            </a:r>
            <a:r>
              <a:rPr lang="en-ID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Tahapan</a:t>
            </a:r>
            <a:r>
              <a:rPr lang="en-ID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Evaporasi</a:t>
            </a:r>
            <a:r>
              <a:rPr lang="en-ID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Temperatur</a:t>
            </a:r>
            <a:r>
              <a:rPr lang="en-ID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80 °C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707928-C2EA-6704-384B-7FE08AA71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8733" y="1818175"/>
            <a:ext cx="6400684" cy="45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032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991AC-4374-3965-3939-A93BB62E8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6E968-5AE7-F763-4339-E9D6AA164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2040"/>
          </a:xfrm>
        </p:spPr>
        <p:txBody>
          <a:bodyPr>
            <a:normAutofit/>
          </a:bodyPr>
          <a:lstStyle/>
          <a:p>
            <a:r>
              <a:rPr lang="en-ID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Visualisasi</a:t>
            </a:r>
            <a:r>
              <a:rPr lang="en-ID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Tahapan</a:t>
            </a:r>
            <a:r>
              <a:rPr lang="en-ID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Evaporasi</a:t>
            </a:r>
            <a:r>
              <a:rPr lang="en-ID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Temperatur</a:t>
            </a:r>
            <a:r>
              <a:rPr lang="en-ID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100 °C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B909AC-1054-B6A2-385B-FAF977478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133" y="1636939"/>
            <a:ext cx="6400685" cy="45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490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E2BB3-35DD-2B83-6DD8-6B79848F0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E3EBD-A8EB-15B4-2B3E-0B8E6B10D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2040"/>
          </a:xfrm>
        </p:spPr>
        <p:txBody>
          <a:bodyPr>
            <a:normAutofit/>
          </a:bodyPr>
          <a:lstStyle/>
          <a:p>
            <a:r>
              <a:rPr lang="en-ID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Visualisasi</a:t>
            </a:r>
            <a:r>
              <a:rPr lang="en-ID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Tahapan</a:t>
            </a:r>
            <a:r>
              <a:rPr lang="en-ID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Evaporasi</a:t>
            </a:r>
            <a:r>
              <a:rPr lang="en-ID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Temperatur</a:t>
            </a:r>
            <a:r>
              <a:rPr lang="en-ID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130 °C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4A5102-CFE8-D178-3C6B-079F7C954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789339"/>
            <a:ext cx="7467600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095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94206-BBF2-0FED-FDDE-0D5BD111E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E34D5-997A-E992-BE39-00FF1B6C0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2040"/>
          </a:xfrm>
        </p:spPr>
        <p:txBody>
          <a:bodyPr>
            <a:normAutofit fontScale="90000"/>
          </a:bodyPr>
          <a:lstStyle/>
          <a:p>
            <a:r>
              <a:rPr lang="en-ID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Rangkuman</a:t>
            </a:r>
            <a:r>
              <a:rPr lang="en-ID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Dimensionless Number, Diameter, dan </a:t>
            </a:r>
            <a:r>
              <a:rPr lang="en-ID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Kecepatan</a:t>
            </a:r>
            <a:endParaRPr lang="en-ID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4394A18-329B-05F5-A6C9-D2706FADB6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972314"/>
              </p:ext>
            </p:extLst>
          </p:nvPr>
        </p:nvGraphicFramePr>
        <p:xfrm>
          <a:off x="838201" y="1932464"/>
          <a:ext cx="10515598" cy="41376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52442">
                  <a:extLst>
                    <a:ext uri="{9D8B030D-6E8A-4147-A177-3AD203B41FA5}">
                      <a16:colId xmlns:a16="http://schemas.microsoft.com/office/drawing/2014/main" val="3360307750"/>
                    </a:ext>
                  </a:extLst>
                </a:gridCol>
                <a:gridCol w="1552442">
                  <a:extLst>
                    <a:ext uri="{9D8B030D-6E8A-4147-A177-3AD203B41FA5}">
                      <a16:colId xmlns:a16="http://schemas.microsoft.com/office/drawing/2014/main" val="1726533267"/>
                    </a:ext>
                  </a:extLst>
                </a:gridCol>
                <a:gridCol w="1552442">
                  <a:extLst>
                    <a:ext uri="{9D8B030D-6E8A-4147-A177-3AD203B41FA5}">
                      <a16:colId xmlns:a16="http://schemas.microsoft.com/office/drawing/2014/main" val="4213338948"/>
                    </a:ext>
                  </a:extLst>
                </a:gridCol>
                <a:gridCol w="1552442">
                  <a:extLst>
                    <a:ext uri="{9D8B030D-6E8A-4147-A177-3AD203B41FA5}">
                      <a16:colId xmlns:a16="http://schemas.microsoft.com/office/drawing/2014/main" val="3647699288"/>
                    </a:ext>
                  </a:extLst>
                </a:gridCol>
                <a:gridCol w="1552442">
                  <a:extLst>
                    <a:ext uri="{9D8B030D-6E8A-4147-A177-3AD203B41FA5}">
                      <a16:colId xmlns:a16="http://schemas.microsoft.com/office/drawing/2014/main" val="3531345125"/>
                    </a:ext>
                  </a:extLst>
                </a:gridCol>
                <a:gridCol w="1552442">
                  <a:extLst>
                    <a:ext uri="{9D8B030D-6E8A-4147-A177-3AD203B41FA5}">
                      <a16:colId xmlns:a16="http://schemas.microsoft.com/office/drawing/2014/main" val="1240436794"/>
                    </a:ext>
                  </a:extLst>
                </a:gridCol>
                <a:gridCol w="1200946">
                  <a:extLst>
                    <a:ext uri="{9D8B030D-6E8A-4147-A177-3AD203B41FA5}">
                      <a16:colId xmlns:a16="http://schemas.microsoft.com/office/drawing/2014/main" val="13749912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t" latinLnBrk="0">
                        <a:lnSpc>
                          <a:spcPts val="1200"/>
                        </a:lnSpc>
                        <a:buNone/>
                      </a:pPr>
                      <a:r>
                        <a:rPr lang="en-ID" b="1" dirty="0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Case</a:t>
                      </a:r>
                    </a:p>
                  </a:txBody>
                  <a:tcPr marR="152400" marT="50800" marB="50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lnSpc>
                          <a:spcPts val="1200"/>
                        </a:lnSpc>
                        <a:buNone/>
                      </a:pPr>
                      <a:r>
                        <a:rPr lang="en-ID" b="1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D0 mm</a:t>
                      </a:r>
                    </a:p>
                  </a:txBody>
                  <a:tcPr marR="1524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lnSpc>
                          <a:spcPts val="1200"/>
                        </a:lnSpc>
                        <a:buNone/>
                      </a:pPr>
                      <a:r>
                        <a:rPr lang="en-ID" b="1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 m/s</a:t>
                      </a:r>
                    </a:p>
                  </a:txBody>
                  <a:tcPr marR="152400" marT="50800" marB="5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lnSpc>
                          <a:spcPts val="1200"/>
                        </a:lnSpc>
                        <a:buNone/>
                      </a:pPr>
                      <a:r>
                        <a:rPr lang="en-ID" b="1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</a:t>
                      </a:r>
                    </a:p>
                  </a:txBody>
                  <a:tcPr marR="152400" marT="50800" marB="5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lnSpc>
                          <a:spcPts val="1200"/>
                        </a:lnSpc>
                        <a:buNone/>
                      </a:pPr>
                      <a:r>
                        <a:rPr lang="en-ID" b="1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</a:t>
                      </a:r>
                    </a:p>
                  </a:txBody>
                  <a:tcPr marR="152400" marT="50800" marB="5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lnSpc>
                          <a:spcPts val="1200"/>
                        </a:lnSpc>
                        <a:buNone/>
                      </a:pPr>
                      <a:r>
                        <a:rPr lang="en-ID" b="1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beta_L max</a:t>
                      </a:r>
                    </a:p>
                  </a:txBody>
                  <a:tcPr marR="152400" marT="50800" marB="5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lnSpc>
                          <a:spcPts val="1200"/>
                        </a:lnSpc>
                        <a:buNone/>
                      </a:pPr>
                      <a:r>
                        <a:rPr lang="en-ID" b="1" dirty="0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 after impact</a:t>
                      </a:r>
                    </a:p>
                  </a:txBody>
                  <a:tcPr marT="50800" marB="5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590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 C, 0%</a:t>
                      </a:r>
                    </a:p>
                  </a:txBody>
                  <a:tcPr marR="152400" marT="63500" marB="635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2.436</a:t>
                      </a:r>
                    </a:p>
                  </a:txBody>
                  <a:tcPr marR="1524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1.332</a:t>
                      </a:r>
                    </a:p>
                  </a:txBody>
                  <a:tcPr marR="152400" marT="63500" marB="635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3016</a:t>
                      </a:r>
                    </a:p>
                  </a:txBody>
                  <a:tcPr marR="152400" marT="63500" marB="635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59.0</a:t>
                      </a:r>
                    </a:p>
                  </a:txBody>
                  <a:tcPr marR="152400" marT="63500" marB="635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2.87</a:t>
                      </a:r>
                    </a:p>
                  </a:txBody>
                  <a:tcPr marR="152400" marT="63500" marB="635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4.2 </a:t>
                      </a:r>
                      <a:r>
                        <a:rPr lang="en-ID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endParaRPr lang="en-ID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3500" marB="635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1420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 C, 4%</a:t>
                      </a:r>
                    </a:p>
                  </a:txBody>
                  <a:tcPr marR="152400" marT="63500" marB="635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2.258</a:t>
                      </a:r>
                    </a:p>
                  </a:txBody>
                  <a:tcPr marR="1524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1.218</a:t>
                      </a:r>
                    </a:p>
                  </a:txBody>
                  <a:tcPr marR="152400" marT="63500" marB="635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2526</a:t>
                      </a:r>
                    </a:p>
                  </a:txBody>
                  <a:tcPr marR="152400" marT="63500" marB="635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55.6</a:t>
                      </a:r>
                    </a:p>
                  </a:txBody>
                  <a:tcPr marR="152400" marT="63500" marB="635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2.73</a:t>
                      </a:r>
                    </a:p>
                  </a:txBody>
                  <a:tcPr marR="152400" marT="63500" marB="635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4.0 ms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361147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 C, 8%</a:t>
                      </a:r>
                    </a:p>
                  </a:txBody>
                  <a:tcPr marR="152400" marT="63500" marB="635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2,582</a:t>
                      </a:r>
                    </a:p>
                  </a:txBody>
                  <a:tcPr marR="1524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1,367</a:t>
                      </a:r>
                    </a:p>
                  </a:txBody>
                  <a:tcPr marR="152400" marT="63500" marB="635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3202</a:t>
                      </a:r>
                    </a:p>
                  </a:txBody>
                  <a:tcPr marR="152400" marT="63500" marB="635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94.2</a:t>
                      </a:r>
                    </a:p>
                  </a:txBody>
                  <a:tcPr marR="152400" marT="63500" marB="635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2.80</a:t>
                      </a:r>
                    </a:p>
                  </a:txBody>
                  <a:tcPr marR="152400" marT="63500" marB="635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4.0 </a:t>
                      </a:r>
                      <a:r>
                        <a:rPr lang="en-ID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endParaRPr lang="en-ID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2980844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 C, 0%</a:t>
                      </a:r>
                    </a:p>
                  </a:txBody>
                  <a:tcPr marR="152400" marT="63500" marB="635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2.386</a:t>
                      </a:r>
                    </a:p>
                  </a:txBody>
                  <a:tcPr marR="1524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1.367</a:t>
                      </a:r>
                    </a:p>
                  </a:txBody>
                  <a:tcPr marR="152400" marT="63500" marB="635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3032</a:t>
                      </a:r>
                    </a:p>
                  </a:txBody>
                  <a:tcPr marR="152400" marT="63500" marB="635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60.9</a:t>
                      </a:r>
                    </a:p>
                  </a:txBody>
                  <a:tcPr marR="152400" marT="63500" marB="635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2.66</a:t>
                      </a:r>
                    </a:p>
                  </a:txBody>
                  <a:tcPr marR="152400" marT="63500" marB="635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 </a:t>
                      </a:r>
                      <a:r>
                        <a:rPr lang="en-ID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endParaRPr lang="en-ID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625502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 C, 4%</a:t>
                      </a:r>
                    </a:p>
                  </a:txBody>
                  <a:tcPr marR="152400" marT="63500" marB="635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2.303</a:t>
                      </a:r>
                    </a:p>
                  </a:txBody>
                  <a:tcPr marR="1524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1.207</a:t>
                      </a:r>
                    </a:p>
                  </a:txBody>
                  <a:tcPr marR="152400" marT="63500" marB="635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2554</a:t>
                      </a:r>
                    </a:p>
                  </a:txBody>
                  <a:tcPr marR="152400" marT="63500" marB="635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55.7</a:t>
                      </a:r>
                    </a:p>
                  </a:txBody>
                  <a:tcPr marR="152400" marT="63500" marB="635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2.77</a:t>
                      </a:r>
                    </a:p>
                  </a:txBody>
                  <a:tcPr marR="152400" marT="63500" marB="635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 ms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2785009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 C, 8%</a:t>
                      </a:r>
                    </a:p>
                  </a:txBody>
                  <a:tcPr marR="152400" marT="63500" marB="635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2.511</a:t>
                      </a:r>
                    </a:p>
                  </a:txBody>
                  <a:tcPr marR="1524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1.285</a:t>
                      </a:r>
                    </a:p>
                  </a:txBody>
                  <a:tcPr marR="152400" marT="63500" marB="635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2929</a:t>
                      </a:r>
                    </a:p>
                  </a:txBody>
                  <a:tcPr marR="152400" marT="63500" marB="635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81.0</a:t>
                      </a:r>
                    </a:p>
                  </a:txBody>
                  <a:tcPr marR="152400" marT="63500" marB="635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2.90</a:t>
                      </a:r>
                    </a:p>
                  </a:txBody>
                  <a:tcPr marR="152400" marT="63500" marB="635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3.8 ms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4032660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130 C, 0%</a:t>
                      </a:r>
                    </a:p>
                  </a:txBody>
                  <a:tcPr marR="152400" marT="63500" marB="635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2.536</a:t>
                      </a:r>
                    </a:p>
                  </a:txBody>
                  <a:tcPr marR="1524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1.402</a:t>
                      </a:r>
                    </a:p>
                  </a:txBody>
                  <a:tcPr marR="152400" marT="63500" marB="635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3305</a:t>
                      </a:r>
                    </a:p>
                  </a:txBody>
                  <a:tcPr marR="152400" marT="63500" marB="635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68.1</a:t>
                      </a:r>
                    </a:p>
                  </a:txBody>
                  <a:tcPr marR="152400" marT="63500" marB="635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2.81</a:t>
                      </a:r>
                    </a:p>
                  </a:txBody>
                  <a:tcPr marR="152400" marT="63500" marB="635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3.0 ms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5584239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130 C, 4%</a:t>
                      </a:r>
                    </a:p>
                  </a:txBody>
                  <a:tcPr marR="152400" marT="63500" marB="635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2.770</a:t>
                      </a:r>
                    </a:p>
                  </a:txBody>
                  <a:tcPr marR="1524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1.320</a:t>
                      </a:r>
                    </a:p>
                  </a:txBody>
                  <a:tcPr marR="152400" marT="63500" marB="635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3361</a:t>
                      </a:r>
                    </a:p>
                  </a:txBody>
                  <a:tcPr marR="152400" marT="63500" marB="635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80.2</a:t>
                      </a:r>
                    </a:p>
                  </a:txBody>
                  <a:tcPr marR="152400" marT="63500" marB="635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2.47</a:t>
                      </a:r>
                    </a:p>
                  </a:txBody>
                  <a:tcPr marR="152400" marT="63500" marB="635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 ms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137584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130 C, 8%</a:t>
                      </a:r>
                    </a:p>
                  </a:txBody>
                  <a:tcPr marR="152400" marT="63500" marB="1524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2.628</a:t>
                      </a:r>
                    </a:p>
                  </a:txBody>
                  <a:tcPr marR="152400" marT="63500" marB="1524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1.332</a:t>
                      </a:r>
                    </a:p>
                  </a:txBody>
                  <a:tcPr marR="152400" marT="63500" marB="1524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3176</a:t>
                      </a:r>
                    </a:p>
                  </a:txBody>
                  <a:tcPr marR="152400" marT="63500" marB="1524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91.0</a:t>
                      </a:r>
                    </a:p>
                  </a:txBody>
                  <a:tcPr marR="152400" marT="63500" marB="1524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2.84</a:t>
                      </a:r>
                    </a:p>
                  </a:txBody>
                  <a:tcPr marR="152400" marT="63500" marB="1524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D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3.8 </a:t>
                      </a:r>
                      <a:r>
                        <a:rPr lang="en-ID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endParaRPr lang="en-ID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3500" marB="152400"/>
                </a:tc>
                <a:extLst>
                  <a:ext uri="{0D108BD9-81ED-4DB2-BD59-A6C34878D82A}">
                    <a16:rowId xmlns:a16="http://schemas.microsoft.com/office/drawing/2014/main" val="3865694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2511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D4A4D-AB74-A597-D2A6-4C703F8CC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CC276-5712-1F44-EE55-BC02D1194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2040"/>
          </a:xfrm>
        </p:spPr>
        <p:txBody>
          <a:bodyPr>
            <a:normAutofit/>
          </a:bodyPr>
          <a:lstStyle/>
          <a:p>
            <a:r>
              <a:rPr lang="en-ID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Spreading Ratio v Dimensionless Time (80 C)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FFD724-1011-FCEF-A896-7AD5439A1B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24000"/>
            <a:ext cx="8174672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434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55DB4-29A4-FFCD-B661-882AA7B7A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2CEC9-304B-1AC7-0E8E-3DF28D9DB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2040"/>
          </a:xfrm>
        </p:spPr>
        <p:txBody>
          <a:bodyPr>
            <a:normAutofit/>
          </a:bodyPr>
          <a:lstStyle/>
          <a:p>
            <a:r>
              <a:rPr lang="en-ID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Spreading Ratio v Dimensionless Time (100 C)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FAD51E-0DA1-E31D-128D-E1E3402CC8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00200"/>
            <a:ext cx="8174672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025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9CD5F-B84B-BE22-739B-876736B95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FE46B-3834-4BEF-FDC7-EC23ECE7B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2040"/>
          </a:xfrm>
        </p:spPr>
        <p:txBody>
          <a:bodyPr>
            <a:normAutofit/>
          </a:bodyPr>
          <a:lstStyle/>
          <a:p>
            <a:r>
              <a:rPr lang="en-ID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Spreading Ratio v Dimensionless Time (130 C)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AF13B2-8B09-979F-59E4-FF3DAC7A02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24000"/>
            <a:ext cx="8174672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3650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9C660-33BF-FCCF-6C6F-81520F855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D53CE-BA8E-E7DD-6551-16BE5176C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7422" y="517526"/>
            <a:ext cx="2841171" cy="2203903"/>
          </a:xfrm>
        </p:spPr>
        <p:txBody>
          <a:bodyPr>
            <a:normAutofit/>
          </a:bodyPr>
          <a:lstStyle/>
          <a:p>
            <a:r>
              <a:rPr lang="en-ID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Analisis</a:t>
            </a:r>
            <a:r>
              <a:rPr lang="en-ID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Efek</a:t>
            </a:r>
            <a:r>
              <a:rPr lang="en-ID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Pendinginan</a:t>
            </a:r>
            <a:r>
              <a:rPr lang="en-ID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Droplet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D1E3AF-D62F-C806-15E6-EADD66DE0C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407" y="369000"/>
            <a:ext cx="8132891" cy="6120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B54A2E0-8D6D-8B9E-FE2F-AF29D7ADA872}"/>
              </a:ext>
            </a:extLst>
          </p:cNvPr>
          <p:cNvSpPr txBox="1"/>
          <p:nvPr/>
        </p:nvSpPr>
        <p:spPr>
          <a:xfrm>
            <a:off x="8877421" y="2721429"/>
            <a:ext cx="284117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konsentasi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etanol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4%vol paling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sesuai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peneltian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sebelum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Penurunan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temperature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sesuai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teori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(Dimana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setelah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Leidenfrost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penurunan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temperatur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kecil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5A18E1-9309-DF9D-CB73-6F48DD955F23}"/>
              </a:ext>
            </a:extLst>
          </p:cNvPr>
          <p:cNvSpPr txBox="1"/>
          <p:nvPr/>
        </p:nvSpPr>
        <p:spPr>
          <a:xfrm>
            <a:off x="9051592" y="5535743"/>
            <a:ext cx="2667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00" dirty="0"/>
              <a:t>*Liu, H., Cai, C., Jia, M., Gao, J., Yin, H., Chen, H., 2019. Experimental investigation on spray cooling with low-alcohol additives. Appl. Therm. Eng. 146, 921–930.</a:t>
            </a:r>
          </a:p>
        </p:txBody>
      </p:sp>
    </p:spTree>
    <p:extLst>
      <p:ext uri="{BB962C8B-B14F-4D97-AF65-F5344CB8AC3E}">
        <p14:creationId xmlns:p14="http://schemas.microsoft.com/office/powerpoint/2010/main" val="1995489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1C54B-C94C-3F56-7D8B-660591A3A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26626-63D4-83AC-5B03-AE25BC780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2040"/>
          </a:xfrm>
        </p:spPr>
        <p:txBody>
          <a:bodyPr>
            <a:normAutofit/>
          </a:bodyPr>
          <a:lstStyle/>
          <a:p>
            <a:r>
              <a:rPr lang="en-ID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Saran </a:t>
            </a:r>
            <a:r>
              <a:rPr lang="en-ID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Penelitian</a:t>
            </a:r>
            <a:r>
              <a:rPr lang="en-ID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Selanjutnya</a:t>
            </a:r>
            <a:endParaRPr lang="en-ID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93AA0D-4DFE-42C6-86D1-833287D69D47}"/>
              </a:ext>
            </a:extLst>
          </p:cNvPr>
          <p:cNvSpPr txBox="1"/>
          <p:nvPr/>
        </p:nvSpPr>
        <p:spPr>
          <a:xfrm>
            <a:off x="838200" y="1317172"/>
            <a:ext cx="704305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Memvalidasi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mengolah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video high speed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tools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komersil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terpercaya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Mengambil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temperatur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udara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sekitar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sampel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menentukan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konveksi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pendinginan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plat uji dan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mengisolasi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efek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pendinginan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droplet agar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mengihitung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cooling flux 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yang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akurat</a:t>
            </a:r>
            <a:endParaRPr lang="en-ID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D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Mengkalibrasi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frekuensi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solenoid valve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tiap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campuran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hasil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droplet yang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konsisten</a:t>
            </a: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6020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525</Words>
  <Application>Microsoft Office PowerPoint</Application>
  <PresentationFormat>Widescreen</PresentationFormat>
  <Paragraphs>119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Times New Roman</vt:lpstr>
      <vt:lpstr>Office Theme</vt:lpstr>
      <vt:lpstr>“Analisis Data Eksperimen Validasi Simulasi Molecular Dynamics pada Proses Tumbukan Droplet untuk Aplikasi High Cooling Flux”</vt:lpstr>
      <vt:lpstr>Experimental Apparatus</vt:lpstr>
      <vt:lpstr>Desain Eksperimen</vt:lpstr>
      <vt:lpstr>Droplet Atomizer</vt:lpstr>
      <vt:lpstr>Alat-Alat Lainnya</vt:lpstr>
      <vt:lpstr>Rezim Perpindahan Panas pada Evaporasi Droplet</vt:lpstr>
      <vt:lpstr>Tahapan Evaporasi Droplet </vt:lpstr>
      <vt:lpstr>Visualisasi Tahapan Evaporasi Temperatur 80 °C</vt:lpstr>
      <vt:lpstr>Visualisasi Tahapan Evaporasi Temperatur 100 °C</vt:lpstr>
      <vt:lpstr>Visualisasi Tahapan Evaporasi Temperatur 130 °C</vt:lpstr>
      <vt:lpstr>Rangkuman Dimensionless Number, Diameter, dan Kecepatan</vt:lpstr>
      <vt:lpstr>Spreading Ratio v Dimensionless Time (80 C)</vt:lpstr>
      <vt:lpstr>Spreading Ratio v Dimensionless Time (100 C)</vt:lpstr>
      <vt:lpstr>Spreading Ratio v Dimensionless Time (130 C)</vt:lpstr>
      <vt:lpstr>Analisis Efek Pendinginan dari Droplet</vt:lpstr>
      <vt:lpstr>Saran untuk Penelitian Selanjutnya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Adlan Muhammad Faras</dc:creator>
  <cp:lastModifiedBy>Adlan Muhammad Faras</cp:lastModifiedBy>
  <cp:revision>4</cp:revision>
  <dcterms:created xsi:type="dcterms:W3CDTF">2026-06-05T02:24:53Z</dcterms:created>
  <dcterms:modified xsi:type="dcterms:W3CDTF">2026-06-05T05:42:22Z</dcterms:modified>
</cp:coreProperties>
</file>